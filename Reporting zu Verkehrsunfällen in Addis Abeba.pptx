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modernComment_144_3DE2C276.xml" ContentType="application/vnd.ms-powerpoint.comments+xml"/>
  <Override PartName="/ppt/comments/modernComment_16A_5F3EB18.xml" ContentType="application/vnd.ms-powerpoint.comments+xml"/>
  <Override PartName="/ppt/comments/modernComment_16D_E4AD1D2F.xml" ContentType="application/vnd.ms-powerpoint.comments+xml"/>
  <Override PartName="/ppt/comments/modernComment_172_EA98A47D.xml" ContentType="application/vnd.ms-powerpoint.comments+xml"/>
  <Override PartName="/ppt/comments/modernComment_171_85152E8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324" r:id="rId4"/>
    <p:sldId id="360" r:id="rId5"/>
    <p:sldId id="362" r:id="rId6"/>
    <p:sldId id="363" r:id="rId7"/>
    <p:sldId id="364" r:id="rId8"/>
    <p:sldId id="365" r:id="rId9"/>
    <p:sldId id="370" r:id="rId10"/>
    <p:sldId id="367" r:id="rId11"/>
    <p:sldId id="369" r:id="rId12"/>
    <p:sldId id="366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096170-AD61-7874-53CE-34B6CFE6D1F2}" name="Philipp Hampel" initials="PH" userId="093826c84f551f9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E6"/>
    <a:srgbClr val="2851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>
      <p:cViewPr>
        <p:scale>
          <a:sx n="72" d="100"/>
          <a:sy n="72" d="100"/>
        </p:scale>
        <p:origin x="1524" y="9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6A_5F3EB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418B8E-7EB4-408F-AFE4-E98C00201B11}" authorId="{5E096170-AD61-7874-53CE-34B6CFE6D1F2}" created="2025-11-01T18:11:47.1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9871512" sldId="362"/>
      <ac:spMk id="12" creationId="{DCB05D07-2AF2-9911-DDBC-A4A763281DA5}"/>
    </ac:deMkLst>
    <p188:txBody>
      <a:bodyPr/>
      <a:lstStyle/>
      <a:p>
        <a:r>
          <a:rPr lang="de-DE"/>
          <a:t>Text unten größer machen</a:t>
        </a:r>
      </a:p>
    </p188:txBody>
  </p188:cm>
</p188:cmLst>
</file>

<file path=ppt/comments/modernComment_16D_E4AD1D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96C0FC-4CA8-41C7-8376-7EF73E3090B9}" authorId="{5E096170-AD61-7874-53CE-34B6CFE6D1F2}" created="2025-11-01T15:37:34.184">
    <pc:sldMkLst xmlns:pc="http://schemas.microsoft.com/office/powerpoint/2013/main/command">
      <pc:docMk/>
      <pc:sldMk cId="3836550447" sldId="365"/>
    </pc:sldMkLst>
    <p188:txBody>
      <a:bodyPr/>
      <a:lstStyle/>
      <a:p>
        <a:r>
          <a:rPr lang="de-DE"/>
          <a:t>Alle unter 5% zusammenfassen zu andere, und trozdem hinschreiben was das andere alles ist</a:t>
        </a:r>
      </a:p>
    </p188:txBody>
  </p188:cm>
  <p188:cm id="{425350C8-3EED-43D7-AF0C-5C1405D76DEF}" authorId="{5E096170-AD61-7874-53CE-34B6CFE6D1F2}" created="2025-11-01T18:15:38.193">
    <pc:sldMkLst xmlns:pc="http://schemas.microsoft.com/office/powerpoint/2013/main/command">
      <pc:docMk/>
      <pc:sldMk cId="3836550447" sldId="365"/>
    </pc:sldMkLst>
    <p188:txBody>
      <a:bodyPr/>
      <a:lstStyle/>
      <a:p>
        <a:r>
          <a:rPr lang="de-DE"/>
          <a:t>Ordnen absteigend nach tödlichen Unfällen, ganz links die meisten und ganz rechts die wenigsten</a:t>
        </a:r>
      </a:p>
    </p188:txBody>
  </p188:cm>
</p188:cmLst>
</file>

<file path=ppt/comments/modernComment_144_3DE2C2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604E7BF-CE75-42AD-A07E-882C21F17CD1}" authorId="{5E096170-AD61-7874-53CE-34B6CFE6D1F2}" created="2025-11-01T15:32:50.208">
    <pc:sldMkLst xmlns:pc="http://schemas.microsoft.com/office/powerpoint/2013/main/command">
      <pc:docMk/>
      <pc:sldMk cId="1038271094" sldId="324"/>
    </pc:sldMkLst>
    <p188:txBody>
      <a:bodyPr/>
      <a:lstStyle/>
      <a:p>
        <a:r>
          <a:rPr lang="de-DE"/>
          <a:t>Alle texte größer in Abbildungen</a:t>
        </a:r>
      </a:p>
    </p188:txBody>
  </p188:cm>
</p188:cmLst>
</file>

<file path=ppt/comments/modernComment_171_85152E8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98A16E-AE37-483B-BC48-DA2368A735E6}" authorId="{5E096170-AD61-7874-53CE-34B6CFE6D1F2}" created="2025-11-01T15:39:37.2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32757897" sldId="369"/>
      <ac:graphicFrameMk id="6" creationId="{A42599BD-4C2A-5284-24E3-A2F1125F28C0}"/>
    </ac:deMkLst>
    <p188:txBody>
      <a:bodyPr/>
      <a:lstStyle/>
      <a:p>
        <a:r>
          <a:rPr lang="de-DE"/>
          <a:t>Y Kreuzung raus =&gt; dafür straße und anzahl autos rein</a:t>
        </a:r>
      </a:p>
    </p188:txBody>
  </p188:cm>
  <p188:cm id="{424F6781-F3CA-4552-AC59-00237B3AF3A3}" authorId="{5E096170-AD61-7874-53CE-34B6CFE6D1F2}" created="2025-11-01T15:52:25.825">
    <pc:sldMkLst xmlns:pc="http://schemas.microsoft.com/office/powerpoint/2013/main/command">
      <pc:docMk/>
      <pc:sldMk cId="2232757897" sldId="369"/>
    </pc:sldMkLst>
    <p188:txBody>
      <a:bodyPr/>
      <a:lstStyle/>
      <a:p>
        <a:r>
          <a:rPr lang="de-DE"/>
          <a:t>Handlunsgempfehlung und ursache umdrehen =&gt; und dann sagen was auf welche ursache ein auswirkung hat
Die wichtigen maßnahmen nach oben ziehen</a:t>
        </a:r>
      </a:p>
    </p188:txBody>
  </p188:cm>
</p188:cmLst>
</file>

<file path=ppt/comments/modernComment_172_EA98A47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3C8A08F-2E9E-486A-B8BB-FB17DE576644}" authorId="{5E096170-AD61-7874-53CE-34B6CFE6D1F2}" created="2025-11-01T15:36:22.275">
    <pc:sldMkLst xmlns:pc="http://schemas.microsoft.com/office/powerpoint/2013/main/command">
      <pc:docMk/>
      <pc:sldMk cId="3935872125" sldId="370"/>
    </pc:sldMkLst>
    <p188:txBody>
      <a:bodyPr/>
      <a:lstStyle/>
      <a:p>
        <a:r>
          <a:rPr lang="de-DE"/>
          <a:t>Unbekannt raus</a:t>
        </a:r>
      </a:p>
    </p188:txBody>
  </p188:cm>
  <p188:cm id="{D8C6BC2F-D514-4565-B74D-ACBD3FEDA387}" authorId="{5E096170-AD61-7874-53CE-34B6CFE6D1F2}" created="2025-11-01T18:16:32.203">
    <pc:sldMkLst xmlns:pc="http://schemas.microsoft.com/office/powerpoint/2013/main/command">
      <pc:docMk/>
      <pc:sldMk cId="3935872125" sldId="370"/>
    </pc:sldMkLst>
    <p188:txBody>
      <a:bodyPr/>
      <a:lstStyle/>
      <a:p>
        <a:r>
          <a:rPr lang="de-DE"/>
          <a:t>Zwei mal Sosntiges zusammenfassen</a:t>
        </a:r>
      </a:p>
    </p188:txBody>
  </p188:cm>
  <p188:cm id="{1D63BADF-C782-4DF0-8ACC-D00F595F7914}" authorId="{5E096170-AD61-7874-53CE-34B6CFE6D1F2}" created="2025-11-01T18:32:02.310">
    <pc:sldMkLst xmlns:pc="http://schemas.microsoft.com/office/powerpoint/2013/main/command">
      <pc:docMk/>
      <pc:sldMk cId="3935872125" sldId="370"/>
    </pc:sldMkLst>
    <p188:txBody>
      <a:bodyPr/>
      <a:lstStyle/>
      <a:p>
        <a:r>
          <a:rPr lang="de-DE"/>
          <a:t>Titel fehlt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8896A7-10C4-4860-BBA2-0A4DD114C943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092B8-C889-4088-AB73-9A97822794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222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74137C-D07A-D74E-E487-E898288D1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0B0A22-E15C-E9B7-D008-426535D71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AE3822-4F57-01E5-C615-461DB0180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6BFE5A-FD3F-55F1-3031-DA2B46FE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16E11-B6DD-B2E3-80C5-B35452CC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499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173474-53C9-D478-22E5-C5D380D6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282" y="307710"/>
            <a:ext cx="9921815" cy="461366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C50A4D-8110-74F0-7CB7-0C164BC14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948FA0F2-DA81-F7A1-61F7-9A00146E64B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887955"/>
            <a:ext cx="12192000" cy="3854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AF210F5-037A-6E6B-2367-80CA1C2C06B7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987968"/>
            <a:ext cx="12192000" cy="3854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6E891D7C-1777-905F-CBCB-9CF783083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2B6C3289-2F73-C7A1-36BC-F61A1F582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  <a:endParaRPr lang="de-DE" dirty="0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45E7ACF-BE96-409B-DF5F-9DE7447F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6047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C7E720-7434-2A0F-D4A6-100BC78F8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DE6CB6-8EE3-186C-08E8-F38880908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6689AB-07D0-7FDA-7FE5-69E91CDFC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429371-075E-1DF8-1695-395111F80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B233F8-35A2-B7A3-E450-F20322BA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444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70BEC0-2B4C-ED48-A7E0-32D2063E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011227-A318-0470-D0E0-8CCB73284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DD214E-DBE0-E6E5-7672-00A01815D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EE7C7C-05A3-76C8-67C8-87CBDFBD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E3BEB8-0D36-405E-8CE6-6B821DC42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41A077-0B29-BF04-3C48-B308FEAD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189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00EA2D-BA4D-3241-66E8-E15E4D8C3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78295A-A8F9-FCB5-B0DA-A5373B970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7807C1-A227-A82E-EE48-0CF7E6BCB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22B4C4-294F-212B-B7BC-5E10C1B49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58C0A5-F062-4381-358F-BE9B1AFEA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E80B38-2A54-85DD-EB69-9779E555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B7643D2-2C50-9F9D-1795-FA6A9D95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7A9E1E0-0286-184B-8E42-7DB2A189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346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9ABD90-157E-3C67-D42A-5CB7FD843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08E937-6CA3-4973-7A87-41D9AE11D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276580-4DFF-D2C0-EFAE-3AD1EB04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D2E5B6-BF5A-F92B-ED12-746CDD67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735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CB5EF3E-CCF7-2066-469B-B7292EC1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121EB3-4384-4FDB-1468-5BCCC9917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D29427-9C0A-5E14-9B2E-045E492A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362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6C651A-637F-A281-A334-03AB2021B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2CA1F3-0183-BEA7-627B-457F51B9B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E8AF4F-266A-A65C-A412-CA8D49191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002663-7C82-A9CB-3745-45206B1C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3F9DA4-5FA4-8197-066C-33336BDFB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1ACC11-FF86-4971-6380-80F0946B7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364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23C0C-5012-C6C9-8EB2-A3F55A433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0826C7E-9A71-0DF7-5C99-97E3CA363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7C86C4-08B6-B1BC-3EC4-989A32592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EB8C1D-78AB-F4AD-2AF3-209FA3AE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A48811-1BA3-A331-F5B8-1424E11D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578B9C-57E3-ACA3-C7B1-06272911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890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AE4EF4-04DA-4547-F79D-A69FDF04E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2719031-8700-86A2-F443-2568EE588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9A25B8-3610-9AF8-8B98-026C5B627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98551C-8EED-B509-A6D3-AB991F3D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2B4414-CF1C-E4EE-BDAD-B779B20C0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2059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12246F8-4EF5-1260-396B-5E7F24540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9DB205-1611-160E-B25C-A60787430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5F0446-C5E4-C4BD-E53B-0EFCBBE4B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1B6CB1-B508-DE94-ACDD-A8CE988E2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3656D0-3DCB-6B4C-BD65-460F7980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2831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(4 Angab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hteck 29">
            <a:extLst>
              <a:ext uri="{FF2B5EF4-FFF2-40B4-BE49-F238E27FC236}">
                <a16:creationId xmlns:a16="http://schemas.microsoft.com/office/drawing/2014/main" id="{3FA93BF2-B11D-4FC5-9B10-8E083CAFCA12}"/>
              </a:ext>
            </a:extLst>
          </p:cNvPr>
          <p:cNvSpPr/>
          <p:nvPr userDrawn="1"/>
        </p:nvSpPr>
        <p:spPr>
          <a:xfrm>
            <a:off x="912286" y="1009650"/>
            <a:ext cx="11279716" cy="48387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3997" tIns="47999" rIns="143997" bIns="47999" rtlCol="0" anchor="ctr" anchorCtr="0">
            <a:normAutofit/>
          </a:bodyPr>
          <a:lstStyle/>
          <a:p>
            <a:pPr algn="ctr"/>
            <a:endParaRPr lang="de-DE" sz="2400" dirty="0" err="1">
              <a:latin typeface="+mj-lt"/>
            </a:endParaRPr>
          </a:p>
        </p:txBody>
      </p:sp>
      <p:sp>
        <p:nvSpPr>
          <p:cNvPr id="62" name="Textplatzhalter 4">
            <a:extLst>
              <a:ext uri="{FF2B5EF4-FFF2-40B4-BE49-F238E27FC236}">
                <a16:creationId xmlns:a16="http://schemas.microsoft.com/office/drawing/2014/main" id="{04C55368-C9FF-4E80-A821-ECF4B91A34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21683" y="1937091"/>
            <a:ext cx="3467600" cy="258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78" b="1" i="0" baseline="0"/>
            </a:lvl1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63" name="Textplatzhalter 4">
            <a:extLst>
              <a:ext uri="{FF2B5EF4-FFF2-40B4-BE49-F238E27FC236}">
                <a16:creationId xmlns:a16="http://schemas.microsoft.com/office/drawing/2014/main" id="{DCA1C46C-FE53-4CB5-983F-95043DD5C2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21683" y="2167567"/>
            <a:ext cx="3467600" cy="258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78" b="0" i="0" baseline="0"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Agenda</a:t>
            </a:r>
          </a:p>
        </p:txBody>
      </p:sp>
      <p:sp>
        <p:nvSpPr>
          <p:cNvPr id="69" name="Textplatzhalter 4">
            <a:extLst>
              <a:ext uri="{FF2B5EF4-FFF2-40B4-BE49-F238E27FC236}">
                <a16:creationId xmlns:a16="http://schemas.microsoft.com/office/drawing/2014/main" id="{4C56456F-A842-4673-B9B4-A420E7B2FD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21683" y="2815050"/>
            <a:ext cx="3467600" cy="258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78" b="1" i="0" baseline="0"/>
            </a:lvl1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70" name="Textplatzhalter 4">
            <a:extLst>
              <a:ext uri="{FF2B5EF4-FFF2-40B4-BE49-F238E27FC236}">
                <a16:creationId xmlns:a16="http://schemas.microsoft.com/office/drawing/2014/main" id="{F1B2E5D1-D0D9-4ECD-99C5-A6F97DD19A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683" y="3045527"/>
            <a:ext cx="3467600" cy="258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78" b="0" i="0" baseline="0"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Agenda</a:t>
            </a:r>
          </a:p>
        </p:txBody>
      </p:sp>
      <p:sp>
        <p:nvSpPr>
          <p:cNvPr id="71" name="Textplatzhalter 4">
            <a:extLst>
              <a:ext uri="{FF2B5EF4-FFF2-40B4-BE49-F238E27FC236}">
                <a16:creationId xmlns:a16="http://schemas.microsoft.com/office/drawing/2014/main" id="{1108200B-3F4B-4770-9A39-BF274C511B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21683" y="3709754"/>
            <a:ext cx="3467600" cy="258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78" b="1" i="0" baseline="0"/>
            </a:lvl1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72" name="Textplatzhalter 4">
            <a:extLst>
              <a:ext uri="{FF2B5EF4-FFF2-40B4-BE49-F238E27FC236}">
                <a16:creationId xmlns:a16="http://schemas.microsoft.com/office/drawing/2014/main" id="{CFEC609D-F72F-4C73-9E59-1A7B68E841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21683" y="3940231"/>
            <a:ext cx="3467600" cy="258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78" b="0" i="0" baseline="0"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Agenda</a:t>
            </a:r>
          </a:p>
        </p:txBody>
      </p:sp>
      <p:sp>
        <p:nvSpPr>
          <p:cNvPr id="28" name="Textplatzhalter 4">
            <a:extLst>
              <a:ext uri="{FF2B5EF4-FFF2-40B4-BE49-F238E27FC236}">
                <a16:creationId xmlns:a16="http://schemas.microsoft.com/office/drawing/2014/main" id="{8EE6C1EE-F60F-40FA-B72A-6452AA8D4D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1683" y="4576135"/>
            <a:ext cx="3467600" cy="258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78" b="1" i="0" baseline="0"/>
            </a:lvl1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29" name="Textplatzhalter 4">
            <a:extLst>
              <a:ext uri="{FF2B5EF4-FFF2-40B4-BE49-F238E27FC236}">
                <a16:creationId xmlns:a16="http://schemas.microsoft.com/office/drawing/2014/main" id="{F573C38E-34E1-4D8A-9905-A27FACF947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1683" y="4806611"/>
            <a:ext cx="3467600" cy="258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78" b="0" i="0" baseline="0"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Agenda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FCCD3883-268D-404C-86CD-292C9ED11E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48759" y="1862294"/>
            <a:ext cx="580235" cy="5799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tIns="100800" anchor="ctr"/>
          <a:lstStyle>
            <a:lvl1pPr marL="0" indent="0" algn="ctr">
              <a:buNone/>
              <a:defRPr sz="2158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ABB0FBF2-FB7B-CC4E-9868-95DCE0EE1D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8759" y="2746908"/>
            <a:ext cx="580235" cy="5799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tIns="100800" anchor="ctr"/>
          <a:lstStyle>
            <a:lvl1pPr marL="0" indent="0" algn="ctr">
              <a:buNone/>
              <a:defRPr sz="2158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2</a:t>
            </a: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886CE867-369D-594A-99DA-520254F255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48759" y="3631192"/>
            <a:ext cx="580235" cy="5799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tIns="100800" anchor="ctr"/>
          <a:lstStyle>
            <a:lvl1pPr marL="0" indent="0" algn="ctr">
              <a:buNone/>
              <a:defRPr sz="2158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3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B0319E20-2D18-3C4F-B52B-64CF2E678E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8759" y="4504843"/>
            <a:ext cx="580235" cy="5799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tIns="100800" anchor="ctr"/>
          <a:lstStyle>
            <a:lvl1pPr marL="0" indent="0" algn="ctr">
              <a:buNone/>
              <a:defRPr sz="2158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4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CA541BC4-1640-48BE-BCDB-2C9179F6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8026" y="317115"/>
            <a:ext cx="11492866" cy="442707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/>
            </a:lvl1pPr>
          </a:lstStyle>
          <a:p>
            <a:pPr algn="l"/>
            <a:r>
              <a:rPr lang="de-DE" sz="2877" b="1" dirty="0"/>
              <a:t>Agenda (4 Angaben)</a:t>
            </a:r>
          </a:p>
        </p:txBody>
      </p:sp>
      <p:sp>
        <p:nvSpPr>
          <p:cNvPr id="23" name="Bildplatzhalter 21">
            <a:extLst>
              <a:ext uri="{FF2B5EF4-FFF2-40B4-BE49-F238E27FC236}">
                <a16:creationId xmlns:a16="http://schemas.microsoft.com/office/drawing/2014/main" id="{09492F50-300F-4A13-80F4-927498968A2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430733" y="1016000"/>
            <a:ext cx="6761267" cy="4832349"/>
          </a:xfrm>
          <a:custGeom>
            <a:avLst/>
            <a:gdLst>
              <a:gd name="connsiteX0" fmla="*/ 0 w 5070950"/>
              <a:gd name="connsiteY0" fmla="*/ 0 h 3624262"/>
              <a:gd name="connsiteX1" fmla="*/ 5070950 w 5070950"/>
              <a:gd name="connsiteY1" fmla="*/ 0 h 3624262"/>
              <a:gd name="connsiteX2" fmla="*/ 5070950 w 5070950"/>
              <a:gd name="connsiteY2" fmla="*/ 3624262 h 3624262"/>
              <a:gd name="connsiteX3" fmla="*/ 0 w 5070950"/>
              <a:gd name="connsiteY3" fmla="*/ 3624262 h 3624262"/>
              <a:gd name="connsiteX4" fmla="*/ 0 w 5070950"/>
              <a:gd name="connsiteY4" fmla="*/ 0 h 3624262"/>
              <a:gd name="connsiteX0" fmla="*/ 0 w 5070950"/>
              <a:gd name="connsiteY0" fmla="*/ 0 h 3624262"/>
              <a:gd name="connsiteX1" fmla="*/ 5070950 w 5070950"/>
              <a:gd name="connsiteY1" fmla="*/ 0 h 3624262"/>
              <a:gd name="connsiteX2" fmla="*/ 5070950 w 5070950"/>
              <a:gd name="connsiteY2" fmla="*/ 3624262 h 3624262"/>
              <a:gd name="connsiteX3" fmla="*/ 1733550 w 5070950"/>
              <a:gd name="connsiteY3" fmla="*/ 3624262 h 3624262"/>
              <a:gd name="connsiteX4" fmla="*/ 0 w 5070950"/>
              <a:gd name="connsiteY4" fmla="*/ 0 h 3624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70950" h="3624262">
                <a:moveTo>
                  <a:pt x="0" y="0"/>
                </a:moveTo>
                <a:lnTo>
                  <a:pt x="5070950" y="0"/>
                </a:lnTo>
                <a:lnTo>
                  <a:pt x="5070950" y="3624262"/>
                </a:lnTo>
                <a:lnTo>
                  <a:pt x="1733550" y="3624262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8169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60ADCDE-F9E7-C2D0-90D4-6B8C7024A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23D9C1-936E-A43A-ECB4-7B00ADB76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CC6999-FBBA-E751-4DEB-64641C6E3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B68CBD-D00F-1E72-CA91-BB4D84390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Urban Mobility Insights GmbH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AC268B-2CE2-0731-B728-7C77E4C30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22CC3-123C-4EE6-8D74-F6626F3CE3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196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44_3DE2C2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6A_5F3EB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6D_E4AD1D2F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72_EA98A47D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71_85152E8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86DE52E-33CC-BD97-D82C-94423C97D1D4}"/>
              </a:ext>
            </a:extLst>
          </p:cNvPr>
          <p:cNvSpPr/>
          <p:nvPr/>
        </p:nvSpPr>
        <p:spPr>
          <a:xfrm>
            <a:off x="1" y="1866900"/>
            <a:ext cx="12192000" cy="374889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C9CEB0-6776-6232-F13D-80C7C20D0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31090"/>
            <a:ext cx="9144000" cy="1084676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bg1"/>
                </a:solidFill>
              </a:rPr>
              <a:t>Reporting zu Verkehrsunfällen in Addis Abeba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16D86C-5467-77CC-696A-B63FF6AE04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Firma: Urban Mobility </a:t>
            </a:r>
            <a:r>
              <a:rPr lang="de-DE" dirty="0" err="1">
                <a:solidFill>
                  <a:schemeClr val="bg1"/>
                </a:solidFill>
              </a:rPr>
              <a:t>Insights</a:t>
            </a:r>
            <a:r>
              <a:rPr lang="de-DE" dirty="0">
                <a:solidFill>
                  <a:schemeClr val="bg1"/>
                </a:solidFill>
              </a:rPr>
              <a:t> GmbH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Projekt: Sichere Städte</a:t>
            </a:r>
          </a:p>
          <a:p>
            <a:r>
              <a:rPr lang="de-DE" dirty="0">
                <a:solidFill>
                  <a:schemeClr val="bg1"/>
                </a:solidFill>
              </a:rPr>
              <a:t>am 04.11.2025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677DBF-E4D5-2687-FBE6-B926C7C7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1</a:t>
            </a:fld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03379DF-0AB5-F77A-050C-899D12E20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</a:p>
        </p:txBody>
      </p:sp>
    </p:spTree>
    <p:extLst>
      <p:ext uri="{BB962C8B-B14F-4D97-AF65-F5344CB8AC3E}">
        <p14:creationId xmlns:p14="http://schemas.microsoft.com/office/powerpoint/2010/main" val="48397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Chapter">
            <a:extLst>
              <a:ext uri="{FF2B5EF4-FFF2-40B4-BE49-F238E27FC236}">
                <a16:creationId xmlns:a16="http://schemas.microsoft.com/office/drawing/2014/main" id="{E501B46F-755C-4AAD-AA42-B373861A0949}"/>
              </a:ext>
            </a:extLst>
          </p:cNvPr>
          <p:cNvSpPr txBox="1"/>
          <p:nvPr/>
        </p:nvSpPr>
        <p:spPr>
          <a:xfrm>
            <a:off x="2609314" y="6454379"/>
            <a:ext cx="6973372" cy="37110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endParaRPr lang="de-DE" sz="1678" dirty="0">
              <a:latin typeface="NewsGoth for Porsche Com" panose="020B0506020203020204" pitchFamily="34" charset="0"/>
            </a:endParaRP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4224D36-623D-48A1-BD44-0BF94D003E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44757" y="1910738"/>
            <a:ext cx="5032420" cy="738664"/>
          </a:xfrm>
        </p:spPr>
        <p:txBody>
          <a:bodyPr/>
          <a:lstStyle/>
          <a:p>
            <a:r>
              <a:rPr lang="de-DE" sz="2400" dirty="0"/>
              <a:t>Verhältnis der Unfallschwere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AD29E789-27A3-4C39-907A-F494AE9059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07566" y="2649402"/>
            <a:ext cx="6809462" cy="369332"/>
          </a:xfrm>
        </p:spPr>
        <p:txBody>
          <a:bodyPr/>
          <a:lstStyle/>
          <a:p>
            <a:r>
              <a:rPr lang="de-DE" sz="2400" dirty="0"/>
              <a:t>Verteilung der Unfallursachen pro Unfallschwere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49FBDCB-CF8F-4821-9B63-2DA7E7AB82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07565" y="3422434"/>
            <a:ext cx="6079543" cy="369332"/>
          </a:xfrm>
        </p:spPr>
        <p:txBody>
          <a:bodyPr/>
          <a:lstStyle/>
          <a:p>
            <a:r>
              <a:rPr lang="de-DE" sz="2400" dirty="0"/>
              <a:t>Key Performance </a:t>
            </a:r>
            <a:r>
              <a:rPr lang="de-DE" sz="2400" dirty="0" err="1"/>
              <a:t>Indicators</a:t>
            </a:r>
            <a:r>
              <a:rPr lang="de-DE" sz="2400" dirty="0"/>
              <a:t> (KPIs)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432777-F9B5-4506-8A47-08D0F8EA5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07566" y="4208598"/>
            <a:ext cx="4635606" cy="738664"/>
          </a:xfrm>
        </p:spPr>
        <p:txBody>
          <a:bodyPr/>
          <a:lstStyle/>
          <a:p>
            <a:r>
              <a:rPr lang="de-DE" sz="2400" dirty="0"/>
              <a:t>Handlungsempfehlungen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9C5D5C39-3C56-41A6-BF5F-D29952216B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81116" y="1833929"/>
            <a:ext cx="580225" cy="579908"/>
          </a:xfrm>
        </p:spPr>
        <p:txBody>
          <a:bodyPr>
            <a:noAutofit/>
          </a:bodyPr>
          <a:lstStyle/>
          <a:p>
            <a:r>
              <a:rPr lang="de-DE" sz="2400" dirty="0"/>
              <a:t>1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9512F565-4541-4115-9375-766EB2A131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381116" y="2583470"/>
            <a:ext cx="580225" cy="579908"/>
          </a:xfrm>
        </p:spPr>
        <p:txBody>
          <a:bodyPr>
            <a:noAutofit/>
          </a:bodyPr>
          <a:lstStyle/>
          <a:p>
            <a:r>
              <a:rPr lang="de-DE" sz="2400" dirty="0"/>
              <a:t>2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384E551F-D0A0-40FF-AA5E-7C7A162C18E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81116" y="3328686"/>
            <a:ext cx="580225" cy="579908"/>
          </a:xfrm>
        </p:spPr>
        <p:txBody>
          <a:bodyPr>
            <a:noAutofit/>
          </a:bodyPr>
          <a:lstStyle/>
          <a:p>
            <a:r>
              <a:rPr lang="de-DE" sz="2400" dirty="0"/>
              <a:t>3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FB2EE2F3-432D-420B-BBA4-B7B1AE230DA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81116" y="4085263"/>
            <a:ext cx="580225" cy="579908"/>
          </a:xfrm>
        </p:spPr>
        <p:txBody>
          <a:bodyPr>
            <a:noAutofit/>
          </a:bodyPr>
          <a:lstStyle/>
          <a:p>
            <a:r>
              <a:rPr lang="de-DE" sz="2400" dirty="0"/>
              <a:t>4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185FA9B-FD04-4506-8F56-5564C4CD7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Agenda </a:t>
            </a:r>
          </a:p>
        </p:txBody>
      </p:sp>
    </p:spTree>
    <p:extLst>
      <p:ext uri="{BB962C8B-B14F-4D97-AF65-F5344CB8AC3E}">
        <p14:creationId xmlns:p14="http://schemas.microsoft.com/office/powerpoint/2010/main" val="2759053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A389C2-FC86-B43E-968A-2E942295B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Verhältnis der Unfallschwere in %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D33501-D0D2-1811-75F6-E2010BBA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3</a:t>
            </a:fld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BC6AACF-8A1B-A7BF-659C-234121DD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CE0F29E-6C6C-4EE3-407D-DA9D38092E67}"/>
              </a:ext>
            </a:extLst>
          </p:cNvPr>
          <p:cNvSpPr txBox="1"/>
          <p:nvPr/>
        </p:nvSpPr>
        <p:spPr>
          <a:xfrm>
            <a:off x="3312543" y="5696224"/>
            <a:ext cx="6820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2,4% aller Unfälle sind tödlich</a:t>
            </a:r>
          </a:p>
        </p:txBody>
      </p:sp>
      <p:pic>
        <p:nvPicPr>
          <p:cNvPr id="12" name="Grafik 9">
            <a:extLst>
              <a:ext uri="{FF2B5EF4-FFF2-40B4-BE49-F238E27FC236}">
                <a16:creationId xmlns:a16="http://schemas.microsoft.com/office/drawing/2014/main" id="{D0CFDE80-2488-29BC-4E5A-25792409CC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4028" y="5668988"/>
            <a:ext cx="443787" cy="423804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D6A3F23-2A6C-0F4D-C8E9-C32059C52221}"/>
              </a:ext>
            </a:extLst>
          </p:cNvPr>
          <p:cNvCxnSpPr>
            <a:cxnSpLocks/>
          </p:cNvCxnSpPr>
          <p:nvPr/>
        </p:nvCxnSpPr>
        <p:spPr>
          <a:xfrm>
            <a:off x="1426234" y="5560299"/>
            <a:ext cx="9339532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afik 16">
            <a:extLst>
              <a:ext uri="{FF2B5EF4-FFF2-40B4-BE49-F238E27FC236}">
                <a16:creationId xmlns:a16="http://schemas.microsoft.com/office/drawing/2014/main" id="{F8BCE6DF-D36B-264C-5D6D-738E8C96A5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983" t="21760" r="25652" b="20424"/>
          <a:stretch>
            <a:fillRect/>
          </a:stretch>
        </p:blipFill>
        <p:spPr>
          <a:xfrm>
            <a:off x="8988854" y="2565200"/>
            <a:ext cx="2533911" cy="148361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DB522187-614F-229F-E2CA-6F378BC82D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9124" y="1121674"/>
            <a:ext cx="4282130" cy="43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2710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E91E73-BF58-5598-BC6C-DDCF188A2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282" y="307710"/>
            <a:ext cx="10224463" cy="461366"/>
          </a:xfrm>
        </p:spPr>
        <p:txBody>
          <a:bodyPr>
            <a:normAutofit fontScale="90000"/>
          </a:bodyPr>
          <a:lstStyle/>
          <a:p>
            <a:r>
              <a:rPr lang="de-DE" dirty="0"/>
              <a:t>Verteilung der Unfallursachen pro Unfallschwere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8552B8-215D-5404-70B5-FEDAB0E7D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4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31F0984-732A-ED3E-A178-F4A11389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96C8FD8-ECC7-455A-A731-D11AC7A86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095" y="1236680"/>
            <a:ext cx="7706739" cy="4495598"/>
          </a:xfrm>
          <a:prstGeom prst="rect">
            <a:avLst/>
          </a:prstGeom>
        </p:spPr>
      </p:pic>
      <p:pic>
        <p:nvPicPr>
          <p:cNvPr id="7" name="Grafik 9">
            <a:extLst>
              <a:ext uri="{FF2B5EF4-FFF2-40B4-BE49-F238E27FC236}">
                <a16:creationId xmlns:a16="http://schemas.microsoft.com/office/drawing/2014/main" id="{49884581-B596-4EC3-639A-2AA3F6600D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8466" y="5942386"/>
            <a:ext cx="443787" cy="42380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D44BF53-201E-94A1-1847-89B31E6BD605}"/>
              </a:ext>
            </a:extLst>
          </p:cNvPr>
          <p:cNvSpPr txBox="1"/>
          <p:nvPr/>
        </p:nvSpPr>
        <p:spPr>
          <a:xfrm>
            <a:off x="2248618" y="5805350"/>
            <a:ext cx="6544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Die Unfallursachen sind sehr ähnlich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Eingeleitete Maßnahmen wirken bei jedem Schweregrad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A19C0F54-1AC6-9B3F-BB38-AF5C7AB3B859}"/>
              </a:ext>
            </a:extLst>
          </p:cNvPr>
          <p:cNvCxnSpPr>
            <a:cxnSpLocks/>
          </p:cNvCxnSpPr>
          <p:nvPr/>
        </p:nvCxnSpPr>
        <p:spPr>
          <a:xfrm>
            <a:off x="1426234" y="5560299"/>
            <a:ext cx="9339532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994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E00EAC-89D0-1C24-2AE3-5149DC90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282" y="307710"/>
            <a:ext cx="11152718" cy="461366"/>
          </a:xfrm>
        </p:spPr>
        <p:txBody>
          <a:bodyPr>
            <a:normAutofit fontScale="90000"/>
          </a:bodyPr>
          <a:lstStyle/>
          <a:p>
            <a:r>
              <a:rPr lang="de-DE" dirty="0"/>
              <a:t>KPI - Geschlecht des Fahrers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1F426-8B33-88D4-1180-52BDA393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48E8745-52C8-7473-55E6-A3DBE091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  <a:endParaRPr lang="de-DE" dirty="0"/>
          </a:p>
        </p:txBody>
      </p:sp>
      <p:pic>
        <p:nvPicPr>
          <p:cNvPr id="11" name="Grafik 9">
            <a:extLst>
              <a:ext uri="{FF2B5EF4-FFF2-40B4-BE49-F238E27FC236}">
                <a16:creationId xmlns:a16="http://schemas.microsoft.com/office/drawing/2014/main" id="{431FE09C-CAA7-3655-F280-4363CA7C93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7298" y="5703884"/>
            <a:ext cx="443787" cy="423804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DCB05D07-2AF2-9911-DDBC-A4A763281DA5}"/>
              </a:ext>
            </a:extLst>
          </p:cNvPr>
          <p:cNvSpPr txBox="1"/>
          <p:nvPr/>
        </p:nvSpPr>
        <p:spPr>
          <a:xfrm>
            <a:off x="2340634" y="5758356"/>
            <a:ext cx="7976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Männliche Fahrer verursachen 96,1 % der tödlichen Unfälle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Ähnliche Verteilung bei allen Schweregraden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AFBA187-4082-A5F8-BC69-C7A3EFF3C714}"/>
              </a:ext>
            </a:extLst>
          </p:cNvPr>
          <p:cNvCxnSpPr>
            <a:cxnSpLocks/>
          </p:cNvCxnSpPr>
          <p:nvPr/>
        </p:nvCxnSpPr>
        <p:spPr>
          <a:xfrm>
            <a:off x="1426234" y="5560299"/>
            <a:ext cx="9339532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A57DC773-3292-CA33-B8A4-6277E02FB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6014" y="1157578"/>
            <a:ext cx="5257386" cy="420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15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80DF63-0E0C-3589-A4FE-46F675A11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KPI - Bildungsgrad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A7B55E-ECC2-90CC-9B8E-8FDF05D0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326BCAF-C58E-9D6B-EBCB-4C686A486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9555B6F-4704-7B33-A95F-DFBBDC429750}"/>
              </a:ext>
            </a:extLst>
          </p:cNvPr>
          <p:cNvSpPr txBox="1"/>
          <p:nvPr/>
        </p:nvSpPr>
        <p:spPr>
          <a:xfrm>
            <a:off x="2122098" y="5741962"/>
            <a:ext cx="7947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Mittelstufe Absolventen verursachen 66,3 % der tödlichen Unfälle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Ähnliche Verteilung bei allen Schweregraden</a:t>
            </a:r>
          </a:p>
        </p:txBody>
      </p:sp>
      <p:pic>
        <p:nvPicPr>
          <p:cNvPr id="14" name="Grafik 9">
            <a:extLst>
              <a:ext uri="{FF2B5EF4-FFF2-40B4-BE49-F238E27FC236}">
                <a16:creationId xmlns:a16="http://schemas.microsoft.com/office/drawing/2014/main" id="{D42FA763-21E8-0A3C-9BE2-12843FF72C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0609" y="5837299"/>
            <a:ext cx="443787" cy="423804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F6AD5A8-2F17-55A7-DC8A-2DE165E5E3DF}"/>
              </a:ext>
            </a:extLst>
          </p:cNvPr>
          <p:cNvCxnSpPr>
            <a:cxnSpLocks/>
          </p:cNvCxnSpPr>
          <p:nvPr/>
        </p:nvCxnSpPr>
        <p:spPr>
          <a:xfrm>
            <a:off x="1426234" y="5560299"/>
            <a:ext cx="9339532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fik 22">
            <a:extLst>
              <a:ext uri="{FF2B5EF4-FFF2-40B4-BE49-F238E27FC236}">
                <a16:creationId xmlns:a16="http://schemas.microsoft.com/office/drawing/2014/main" id="{02DC671F-30F5-6519-3CCD-047E869C6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4396" y="1083366"/>
            <a:ext cx="7349428" cy="440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5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B07961-CF04-58AB-3A19-B9B5374C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KPI - Anzahl beteiligter Fahrzeuge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8B2A9E-A5DE-6A3E-E057-260977E90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AB0577-D39F-BD0A-6BF6-E2C2D9E0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7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57C8100-398D-9E2F-F9F8-F0028A826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0091BB5-82B7-C455-4E42-35733D090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11" y="1075662"/>
            <a:ext cx="7844459" cy="4706675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40AD27E1-93E7-F72A-C336-12DCB54202ED}"/>
              </a:ext>
            </a:extLst>
          </p:cNvPr>
          <p:cNvSpPr txBox="1"/>
          <p:nvPr/>
        </p:nvSpPr>
        <p:spPr>
          <a:xfrm>
            <a:off x="2122098" y="5741962"/>
            <a:ext cx="7947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Bei 65,0 % der tödlichen Unfälle sind zwei Autos beteiligt</a:t>
            </a:r>
          </a:p>
        </p:txBody>
      </p:sp>
      <p:pic>
        <p:nvPicPr>
          <p:cNvPr id="19" name="Grafik 9">
            <a:extLst>
              <a:ext uri="{FF2B5EF4-FFF2-40B4-BE49-F238E27FC236}">
                <a16:creationId xmlns:a16="http://schemas.microsoft.com/office/drawing/2014/main" id="{F09DAC6D-4862-8066-DA33-7800080CE5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609" y="5837299"/>
            <a:ext cx="443787" cy="42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57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B26420-2082-B074-0B60-7A317B360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KPI - Kollisionstyp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1D3EEF-EA55-7E68-1E3D-030C0C2E3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582121-D59B-AA80-EB8F-5A6F8E0B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8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43FF5E-2CDA-BF75-514F-F3818519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  <a:endParaRPr lang="de-DE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093710CD-F04B-EEC6-3B00-6F67A40BF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791" y="1148963"/>
            <a:ext cx="7692887" cy="4615733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501F6388-E163-3688-BC15-15299F1409C1}"/>
              </a:ext>
            </a:extLst>
          </p:cNvPr>
          <p:cNvSpPr txBox="1"/>
          <p:nvPr/>
        </p:nvSpPr>
        <p:spPr>
          <a:xfrm>
            <a:off x="2122098" y="5741962"/>
            <a:ext cx="7947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68,6 % der tödlichen Unfälle sind Fahrzeug-Fahrzeug-</a:t>
            </a:r>
            <a:r>
              <a:rPr lang="de-DE" dirty="0" err="1"/>
              <a:t>Kollsionen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Ähnliche Verteilung bei allen Schweregraden</a:t>
            </a:r>
          </a:p>
        </p:txBody>
      </p:sp>
      <p:pic>
        <p:nvPicPr>
          <p:cNvPr id="20" name="Grafik 9">
            <a:extLst>
              <a:ext uri="{FF2B5EF4-FFF2-40B4-BE49-F238E27FC236}">
                <a16:creationId xmlns:a16="http://schemas.microsoft.com/office/drawing/2014/main" id="{7C3243C9-CED5-37F1-0F0A-9A07675BDA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609" y="5837299"/>
            <a:ext cx="443787" cy="42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504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6208A-22FC-991E-7FB8-7705BD470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7C2070-16CB-4AF5-F2E5-9B64D397D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896CCE-1FF9-065D-5AFB-1F4AB893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B68421-4236-A4D7-5EEA-AE4623B4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9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F0D3872-D048-9161-ECC5-8D6EDE26C724}"/>
              </a:ext>
            </a:extLst>
          </p:cNvPr>
          <p:cNvSpPr txBox="1"/>
          <p:nvPr/>
        </p:nvSpPr>
        <p:spPr>
          <a:xfrm>
            <a:off x="2468405" y="5918162"/>
            <a:ext cx="7947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68,4 % der tödlichen Unfälle sind auf ungeteilten Zweibahnstraßen oder mit unterbrochener Spurmarkierung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Ähnliche Verteilung bei allen Schweregraden</a:t>
            </a:r>
          </a:p>
        </p:txBody>
      </p:sp>
      <p:pic>
        <p:nvPicPr>
          <p:cNvPr id="11" name="Grafik 9">
            <a:extLst>
              <a:ext uri="{FF2B5EF4-FFF2-40B4-BE49-F238E27FC236}">
                <a16:creationId xmlns:a16="http://schemas.microsoft.com/office/drawing/2014/main" id="{4A04DC3D-F201-E161-B3A2-E106F7C783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3009" y="6007855"/>
            <a:ext cx="443787" cy="423804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54EE612-425F-890B-CABB-0C4FEAFC2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9676" y="1053777"/>
            <a:ext cx="5938058" cy="475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8721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45F64-1872-DCE0-5FC4-D026829D1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KPI - Kreuzungstyp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F91E54-5D2A-38C2-99A4-969372F7D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7078" y="5764992"/>
            <a:ext cx="9346721" cy="423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23,2% der tödlichen Unfälle passieren an Y Kreuzungen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929E792-2552-5E9B-B002-679B57B97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64F91C-A1A0-CA92-03E6-D3773529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10</a:t>
            </a:fld>
            <a:endParaRPr lang="de-DE"/>
          </a:p>
        </p:txBody>
      </p:sp>
      <p:pic>
        <p:nvPicPr>
          <p:cNvPr id="12" name="Grafik 9">
            <a:extLst>
              <a:ext uri="{FF2B5EF4-FFF2-40B4-BE49-F238E27FC236}">
                <a16:creationId xmlns:a16="http://schemas.microsoft.com/office/drawing/2014/main" id="{75B61A23-4A84-6FA4-37F1-9170B3E78B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3290" y="5764991"/>
            <a:ext cx="443787" cy="423804"/>
          </a:xfrm>
          <a:prstGeom prst="rect">
            <a:avLst/>
          </a:prstGeom>
        </p:spPr>
      </p:pic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0EEE53A5-2342-D78E-9009-25173DCAF405}"/>
              </a:ext>
            </a:extLst>
          </p:cNvPr>
          <p:cNvCxnSpPr>
            <a:cxnSpLocks/>
          </p:cNvCxnSpPr>
          <p:nvPr/>
        </p:nvCxnSpPr>
        <p:spPr>
          <a:xfrm>
            <a:off x="1426234" y="5560299"/>
            <a:ext cx="9339532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fik 20">
            <a:extLst>
              <a:ext uri="{FF2B5EF4-FFF2-40B4-BE49-F238E27FC236}">
                <a16:creationId xmlns:a16="http://schemas.microsoft.com/office/drawing/2014/main" id="{DC6B114C-62A1-FF3D-7ACE-D7854DC7E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668" y="1215555"/>
            <a:ext cx="7070663" cy="424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03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2F6E54-FF58-8F1D-AD8A-97608DB5D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Handlungsempfehlungen für Ursachen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949413-A95E-A678-EAE8-DAE056B3B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FF8A5F-5A4A-1123-E6DD-0DB8059F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11</a:t>
            </a:fld>
            <a:endParaRPr lang="de-DE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A42599BD-4C2A-5284-24E3-A2F1125F2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711735"/>
              </p:ext>
            </p:extLst>
          </p:nvPr>
        </p:nvGraphicFramePr>
        <p:xfrm>
          <a:off x="1039282" y="1208850"/>
          <a:ext cx="9853006" cy="5494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6503">
                  <a:extLst>
                    <a:ext uri="{9D8B030D-6E8A-4147-A177-3AD203B41FA5}">
                      <a16:colId xmlns:a16="http://schemas.microsoft.com/office/drawing/2014/main" val="358110810"/>
                    </a:ext>
                  </a:extLst>
                </a:gridCol>
                <a:gridCol w="4926503">
                  <a:extLst>
                    <a:ext uri="{9D8B030D-6E8A-4147-A177-3AD203B41FA5}">
                      <a16:colId xmlns:a16="http://schemas.microsoft.com/office/drawing/2014/main" val="4225512689"/>
                    </a:ext>
                  </a:extLst>
                </a:gridCol>
              </a:tblGrid>
              <a:tr h="499056">
                <a:tc>
                  <a:txBody>
                    <a:bodyPr/>
                    <a:lstStyle/>
                    <a:p>
                      <a:pPr marL="306388" indent="0" algn="l">
                        <a:tabLst/>
                      </a:pPr>
                      <a:r>
                        <a:rPr lang="de-DE" sz="2000" dirty="0">
                          <a:solidFill>
                            <a:schemeClr val="bg1"/>
                          </a:solidFill>
                        </a:rPr>
                        <a:t>Handlungsempfehlung</a:t>
                      </a:r>
                    </a:p>
                  </a:txBody>
                  <a:tcPr marL="101711" marR="101711" marT="100111" marB="800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51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>
                          <a:solidFill>
                            <a:schemeClr val="bg1"/>
                          </a:solidFill>
                        </a:rPr>
                        <a:t>Ursache die dadurch bekämpft wird</a:t>
                      </a:r>
                    </a:p>
                  </a:txBody>
                  <a:tcPr marL="101711" marR="101711" marT="100111" marB="800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290586"/>
                  </a:ext>
                </a:extLst>
              </a:tr>
              <a:tr h="920686">
                <a:tc>
                  <a:txBody>
                    <a:bodyPr/>
                    <a:lstStyle/>
                    <a:p>
                      <a:pPr marL="306388" indent="0" algn="l">
                        <a:tabLst/>
                      </a:pPr>
                      <a:r>
                        <a:rPr lang="de-DE" sz="2000" dirty="0"/>
                        <a:t>Umbau von X Kreuzung zu Kreisverkehr, Umbau von Y Kreuzung zu T Kreuzung oder zu Kreisverkehr</a:t>
                      </a:r>
                      <a:endParaRPr lang="de-DE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1711" marR="101711" marT="100111" marB="800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08025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2000" dirty="0"/>
                        <a:t>Unfälle an Kreuzungen</a:t>
                      </a:r>
                    </a:p>
                    <a:p>
                      <a:pPr marL="465138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2000" dirty="0"/>
                        <a:t>Männliche Fahrer</a:t>
                      </a:r>
                    </a:p>
                    <a:p>
                      <a:pPr marL="465138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2000" dirty="0"/>
                        <a:t>Fahrer mit geringem Bildungsgrad</a:t>
                      </a:r>
                    </a:p>
                  </a:txBody>
                  <a:tcPr marL="101711" marR="101711" marT="100111" marB="800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389650"/>
                  </a:ext>
                </a:extLst>
              </a:tr>
              <a:tr h="913950">
                <a:tc>
                  <a:txBody>
                    <a:bodyPr/>
                    <a:lstStyle/>
                    <a:p>
                      <a:r>
                        <a:rPr lang="de-DE" sz="2000" dirty="0"/>
                        <a:t>Straßenmarkierung und Beschilderung verbessern</a:t>
                      </a:r>
                    </a:p>
                  </a:txBody>
                  <a:tcPr marL="101711" marR="101711" marT="100111" marB="720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5138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2000" b="0" dirty="0">
                          <a:solidFill>
                            <a:schemeClr val="tx1"/>
                          </a:solidFill>
                        </a:rPr>
                        <a:t>Unfälle beim Spurwechsel</a:t>
                      </a:r>
                    </a:p>
                    <a:p>
                      <a:pPr marL="465138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2000" dirty="0"/>
                        <a:t>Männliche Fahrer</a:t>
                      </a:r>
                    </a:p>
                    <a:p>
                      <a:pPr marL="465138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2000" dirty="0"/>
                        <a:t>Fahrer mit geringem Bildungsgrad</a:t>
                      </a:r>
                    </a:p>
                  </a:txBody>
                  <a:tcPr marL="101711" marR="101711" marT="100111" marB="720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945847"/>
                  </a:ext>
                </a:extLst>
              </a:tr>
              <a:tr h="1170322">
                <a:tc>
                  <a:txBody>
                    <a:bodyPr/>
                    <a:lstStyle/>
                    <a:p>
                      <a:r>
                        <a:rPr lang="de-DE" sz="2000" dirty="0"/>
                        <a:t>Überholverbote</a:t>
                      </a:r>
                    </a:p>
                  </a:txBody>
                  <a:tcPr marL="101711" marR="101711" marT="100111" marB="720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5138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2000" b="0" dirty="0">
                          <a:solidFill>
                            <a:schemeClr val="tx1"/>
                          </a:solidFill>
                        </a:rPr>
                        <a:t>Unfälle beim Spurwechsel</a:t>
                      </a:r>
                    </a:p>
                    <a:p>
                      <a:pPr marL="465138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2000" dirty="0"/>
                        <a:t>Männliche Fahrer</a:t>
                      </a:r>
                    </a:p>
                    <a:p>
                      <a:pPr marL="465138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2000" dirty="0"/>
                        <a:t>Fahrer mit geringem Bildungsgrad</a:t>
                      </a:r>
                    </a:p>
                  </a:txBody>
                  <a:tcPr marL="101711" marR="101711" marT="100111" marB="720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992899"/>
                  </a:ext>
                </a:extLst>
              </a:tr>
              <a:tr h="729536">
                <a:tc>
                  <a:txBody>
                    <a:bodyPr/>
                    <a:lstStyle/>
                    <a:p>
                      <a:r>
                        <a:rPr lang="de-DE" sz="2000" dirty="0"/>
                        <a:t>Awareness-Kampagne</a:t>
                      </a:r>
                    </a:p>
                  </a:txBody>
                  <a:tcPr marL="101711" marR="101711" marT="100111" marB="720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5138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2000" dirty="0"/>
                        <a:t>Männliche Fahrer</a:t>
                      </a:r>
                    </a:p>
                  </a:txBody>
                  <a:tcPr marL="101711" marR="101711" marT="100111" marB="720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676395"/>
                  </a:ext>
                </a:extLst>
              </a:tr>
              <a:tr h="9139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/>
                        <a:t>Fahrkurse bereits in der Schule, Verständlichere Verkehrserziehung</a:t>
                      </a:r>
                    </a:p>
                  </a:txBody>
                  <a:tcPr marL="101711" marR="101711" marT="100111" marB="720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5138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2000" dirty="0"/>
                        <a:t>Fahrer mit geringem Bildungsgrad</a:t>
                      </a:r>
                    </a:p>
                  </a:txBody>
                  <a:tcPr marL="101711" marR="101711" marT="100111" marB="720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17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7578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0CE52A-4CE4-D210-3F6D-8BF9872FE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Backup Folien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946D66-031A-4BEA-10E3-DC94F5621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424545" cy="4351338"/>
          </a:xfrm>
        </p:spPr>
        <p:txBody>
          <a:bodyPr/>
          <a:lstStyle/>
          <a:p>
            <a:endParaRPr lang="de-DE" dirty="0">
              <a:highlight>
                <a:srgbClr val="FFFF00"/>
              </a:highlight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6E6C4F-51E3-C800-76E2-4BE253E2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2CC3-123C-4EE6-8D74-F6626F3CE33C}" type="slidenum">
              <a:rPr lang="de-DE" smtClean="0"/>
              <a:t>12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067EE24-3FFE-E5B8-6CE1-ECA1F10DF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Urban Mobility Insights GmbH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B2EA7EB-4DFE-49D0-7B71-1B98B9393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66" y="967116"/>
            <a:ext cx="10098657" cy="589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876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Breitbild</PresentationFormat>
  <Paragraphs>74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NewsGoth for Porsche Com</vt:lpstr>
      <vt:lpstr>Office</vt:lpstr>
      <vt:lpstr>Reporting zu Verkehrsunfällen in Addis Abeba</vt:lpstr>
      <vt:lpstr>Agenda </vt:lpstr>
      <vt:lpstr>Verhältnis der Unfallschwere in %</vt:lpstr>
      <vt:lpstr>Verteilung der Unfallursachen pro Unfallschwere</vt:lpstr>
      <vt:lpstr>KPI - Geschlecht des Fahrers</vt:lpstr>
      <vt:lpstr>KPI - Bildungsgrad</vt:lpstr>
      <vt:lpstr>KPI - Anzahl beteiligter Fahrzeuge</vt:lpstr>
      <vt:lpstr>KPI - Kollisionstyp</vt:lpstr>
      <vt:lpstr>PowerPoint-Präsentation</vt:lpstr>
      <vt:lpstr>KPI - Kreuzungstyp</vt:lpstr>
      <vt:lpstr>Handlungsempfehlungen für Ursachen</vt:lpstr>
      <vt:lpstr>Backup Folien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Hampel, Philipp</dc:creator>
  <cp:lastModifiedBy>Philipp Hampel</cp:lastModifiedBy>
  <cp:revision>13</cp:revision>
  <dcterms:created xsi:type="dcterms:W3CDTF">2025-09-18T13:26:07Z</dcterms:created>
  <dcterms:modified xsi:type="dcterms:W3CDTF">2025-11-01T21:19:43Z</dcterms:modified>
</cp:coreProperties>
</file>